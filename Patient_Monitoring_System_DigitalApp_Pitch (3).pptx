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5" r:id="rId3"/>
    <p:sldId id="264" r:id="rId4"/>
    <p:sldId id="258" r:id="rId5"/>
    <p:sldId id="260" r:id="rId6"/>
    <p:sldId id="261" r:id="rId7"/>
    <p:sldId id="262" r:id="rId8"/>
    <p:sldId id="266" r:id="rId9"/>
    <p:sldId id="268" r:id="rId10"/>
    <p:sldId id="263" r:id="rId11"/>
    <p:sldId id="267" r:id="rId1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AEEF"/>
    <a:srgbClr val="193B6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F794416-8DCC-B6B8-5084-763D15C61A8C}" v="125" dt="2025-10-09T03:29:25.06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3" d="100"/>
          <a:sy n="63" d="100"/>
        </p:scale>
        <p:origin x="1018" y="67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4063DF40-A8A3-4DA3-BD7C-9127AEC766AF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10/27/2025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417689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45B1E-3714-436F-A336-26E1E49CD89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722227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45B1E-3714-436F-A336-26E1E49CD89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512928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6CAB86D0-B768-4562-89BC-E8787C2A9960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10/27/2025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417689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45B1E-3714-436F-A336-26E1E49CD89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294624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23D7F70-3C44-4A10-B402-237D081EF686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10/27/2025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417689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45B1E-3714-436F-A336-26E1E49CD89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98958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BC37DAC8-FAEE-4EBF-9802-8F4C1CDBA594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10/27/2025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028950" y="6417689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45B1E-3714-436F-A336-26E1E49CD89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528830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824F67EE-8DD9-4074-B7FD-52ECB918F0F9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10/27/2025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028950" y="6417689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45B1E-3714-436F-A336-26E1E49CD89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574138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 flipV="1">
            <a:off x="0" y="-237847"/>
            <a:ext cx="9144000" cy="426650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42900"/>
            <a:endParaRPr lang="en-US" sz="1350">
              <a:solidFill>
                <a:prstClr val="white"/>
              </a:solidFill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66A4F2C6-3A16-428D-8890-8CD81BD7772C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10/27/2025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028950" y="6417689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1C45B1E-3714-436F-A336-26E1E49CD898}" type="slidenum">
              <a:rPr lang="en-US" smtClean="0">
                <a:solidFill>
                  <a:prstClr val="white"/>
                </a:solidFill>
              </a:rPr>
              <a:pPr/>
              <a:t>‹#›</a:t>
            </a:fld>
            <a:endParaRPr lang="en-US">
              <a:solidFill>
                <a:prstClr val="white"/>
              </a:solidFill>
            </a:endParaRPr>
          </a:p>
        </p:txBody>
      </p:sp>
      <p:sp>
        <p:nvSpPr>
          <p:cNvPr id="6" name="Rectangle 5"/>
          <p:cNvSpPr/>
          <p:nvPr userDrawn="1"/>
        </p:nvSpPr>
        <p:spPr>
          <a:xfrm>
            <a:off x="0" y="1"/>
            <a:ext cx="308113" cy="365125"/>
          </a:xfrm>
          <a:prstGeom prst="rect">
            <a:avLst/>
          </a:prstGeom>
          <a:solidFill>
            <a:srgbClr val="33CC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prstClr val="white"/>
              </a:solidFill>
            </a:endParaRPr>
          </a:p>
        </p:txBody>
      </p:sp>
      <p:sp>
        <p:nvSpPr>
          <p:cNvPr id="7" name="Rectangle 6"/>
          <p:cNvSpPr/>
          <p:nvPr userDrawn="1"/>
        </p:nvSpPr>
        <p:spPr>
          <a:xfrm>
            <a:off x="314325" y="365126"/>
            <a:ext cx="222388" cy="244475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prstClr val="white"/>
              </a:solidFill>
            </a:endParaRPr>
          </a:p>
        </p:txBody>
      </p:sp>
      <p:sp>
        <p:nvSpPr>
          <p:cNvPr id="8" name="Rectangle 7"/>
          <p:cNvSpPr/>
          <p:nvPr userDrawn="1"/>
        </p:nvSpPr>
        <p:spPr>
          <a:xfrm>
            <a:off x="159027" y="616918"/>
            <a:ext cx="155299" cy="21031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265119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CABE1673-0D0B-4441-9CB1-B21E39A3144D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10/27/2025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417689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45B1E-3714-436F-A336-26E1E49CD89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00025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B214C546-1FC5-4073-85DF-A5463AB3A4FE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10/27/2025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417689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45B1E-3714-436F-A336-26E1E49CD89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870762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C58E50A4-9416-4E34-AD0E-4D28205B3AB8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10/27/2025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417689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45B1E-3714-436F-A336-26E1E49CD89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617361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AF098787-47D2-48A9-9C71-66F5A7452A9A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10/27/2025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417689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45B1E-3714-436F-A336-26E1E49CD89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8011759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Photo -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Shape 38"/>
          <p:cNvSpPr>
            <a:spLocks noGrp="1"/>
          </p:cNvSpPr>
          <p:nvPr>
            <p:ph type="pic" sz="half" idx="13"/>
          </p:nvPr>
        </p:nvSpPr>
        <p:spPr>
          <a:xfrm>
            <a:off x="4723805" y="446484"/>
            <a:ext cx="3750469" cy="5786438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39" name="Shape 39"/>
          <p:cNvSpPr>
            <a:spLocks noGrp="1"/>
          </p:cNvSpPr>
          <p:nvPr>
            <p:ph type="title"/>
          </p:nvPr>
        </p:nvSpPr>
        <p:spPr>
          <a:xfrm>
            <a:off x="669727" y="446484"/>
            <a:ext cx="3750469" cy="2803922"/>
          </a:xfrm>
          <a:prstGeom prst="rect">
            <a:avLst/>
          </a:prstGeom>
        </p:spPr>
        <p:txBody>
          <a:bodyPr anchor="b"/>
          <a:lstStyle>
            <a:lvl1pPr>
              <a:defRPr sz="3164"/>
            </a:lvl1pPr>
          </a:lstStyle>
          <a:p>
            <a:r>
              <a:t>Title Text</a:t>
            </a:r>
          </a:p>
        </p:txBody>
      </p:sp>
      <p:sp>
        <p:nvSpPr>
          <p:cNvPr id="40" name="Shape 40"/>
          <p:cNvSpPr>
            <a:spLocks noGrp="1"/>
          </p:cNvSpPr>
          <p:nvPr>
            <p:ph type="body" sz="quarter" idx="1"/>
          </p:nvPr>
        </p:nvSpPr>
        <p:spPr>
          <a:xfrm>
            <a:off x="669727" y="3348634"/>
            <a:ext cx="3750469" cy="2884289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1688"/>
            </a:lvl1pPr>
            <a:lvl2pPr marL="0" indent="120547" algn="ctr">
              <a:spcBef>
                <a:spcPts val="0"/>
              </a:spcBef>
              <a:buSzTx/>
              <a:buNone/>
              <a:defRPr sz="1688"/>
            </a:lvl2pPr>
            <a:lvl3pPr marL="0" indent="241093" algn="ctr">
              <a:spcBef>
                <a:spcPts val="0"/>
              </a:spcBef>
              <a:buSzTx/>
              <a:buNone/>
              <a:defRPr sz="1688"/>
            </a:lvl3pPr>
            <a:lvl4pPr marL="0" indent="361640" algn="ctr">
              <a:spcBef>
                <a:spcPts val="0"/>
              </a:spcBef>
              <a:buSzTx/>
              <a:buNone/>
              <a:defRPr sz="1688"/>
            </a:lvl4pPr>
            <a:lvl5pPr marL="0" indent="482186" algn="ctr">
              <a:spcBef>
                <a:spcPts val="0"/>
              </a:spcBef>
              <a:buSzTx/>
              <a:buNone/>
              <a:defRPr sz="1688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1" name="Shape 41"/>
          <p:cNvSpPr>
            <a:spLocks noGrp="1"/>
          </p:cNvSpPr>
          <p:nvPr>
            <p:ph type="sldNum" sz="quarter" idx="2"/>
          </p:nvPr>
        </p:nvSpPr>
        <p:spPr>
          <a:xfrm>
            <a:off x="4437983" y="6505278"/>
            <a:ext cx="259105" cy="26789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>
                <a:solidFill>
                  <a:prstClr val="white"/>
                </a:solidFill>
              </a:rPr>
              <a:pPr/>
              <a:t>‹#›</a:t>
            </a:fld>
            <a:endParaRPr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4717593"/>
      </p:ext>
    </p:extLst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ne column tex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Shape 35"/>
          <p:cNvSpPr txBox="1">
            <a:spLocks noGrp="1"/>
          </p:cNvSpPr>
          <p:nvPr>
            <p:ph type="title"/>
          </p:nvPr>
        </p:nvSpPr>
        <p:spPr>
          <a:xfrm>
            <a:off x="311701" y="842402"/>
            <a:ext cx="2807999" cy="1007599"/>
          </a:xfrm>
          <a:prstGeom prst="rect">
            <a:avLst/>
          </a:prstGeom>
        </p:spPr>
        <p:txBody>
          <a:bodyPr lIns="91425" tIns="91425" rIns="91425" bIns="91425" anchor="b" anchorCtr="0"/>
          <a:lstStyle>
            <a:lvl1pPr lvl="0">
              <a:spcBef>
                <a:spcPts val="0"/>
              </a:spcBef>
              <a:buSzPct val="100000"/>
              <a:defRPr sz="1800"/>
            </a:lvl1pPr>
            <a:lvl2pPr lvl="1">
              <a:spcBef>
                <a:spcPts val="0"/>
              </a:spcBef>
              <a:buSzPct val="100000"/>
              <a:defRPr sz="1800"/>
            </a:lvl2pPr>
            <a:lvl3pPr lvl="2">
              <a:spcBef>
                <a:spcPts val="0"/>
              </a:spcBef>
              <a:buSzPct val="100000"/>
              <a:defRPr sz="1800"/>
            </a:lvl3pPr>
            <a:lvl4pPr lvl="3">
              <a:spcBef>
                <a:spcPts val="0"/>
              </a:spcBef>
              <a:buSzPct val="100000"/>
              <a:defRPr sz="1800"/>
            </a:lvl4pPr>
            <a:lvl5pPr lvl="4">
              <a:spcBef>
                <a:spcPts val="0"/>
              </a:spcBef>
              <a:buSzPct val="100000"/>
              <a:defRPr sz="1800"/>
            </a:lvl5pPr>
            <a:lvl6pPr lvl="5">
              <a:spcBef>
                <a:spcPts val="0"/>
              </a:spcBef>
              <a:buSzPct val="100000"/>
              <a:defRPr sz="1800"/>
            </a:lvl6pPr>
            <a:lvl7pPr lvl="6">
              <a:spcBef>
                <a:spcPts val="0"/>
              </a:spcBef>
              <a:buSzPct val="100000"/>
              <a:defRPr sz="1800"/>
            </a:lvl7pPr>
            <a:lvl8pPr lvl="7">
              <a:spcBef>
                <a:spcPts val="0"/>
              </a:spcBef>
              <a:buSzPct val="100000"/>
              <a:defRPr sz="1800"/>
            </a:lvl8pPr>
            <a:lvl9pPr lvl="8">
              <a:spcBef>
                <a:spcPts val="0"/>
              </a:spcBef>
              <a:buSzPct val="100000"/>
              <a:defRPr sz="1800"/>
            </a:lvl9pPr>
          </a:lstStyle>
          <a:p>
            <a:endParaRPr/>
          </a:p>
        </p:txBody>
      </p:sp>
      <p:sp>
        <p:nvSpPr>
          <p:cNvPr id="36" name="Shape 36"/>
          <p:cNvSpPr txBox="1">
            <a:spLocks noGrp="1"/>
          </p:cNvSpPr>
          <p:nvPr>
            <p:ph type="body" idx="1"/>
          </p:nvPr>
        </p:nvSpPr>
        <p:spPr>
          <a:xfrm>
            <a:off x="311701" y="2157604"/>
            <a:ext cx="2807999" cy="39344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>
              <a:spcBef>
                <a:spcPts val="0"/>
              </a:spcBef>
              <a:buSzPct val="100000"/>
              <a:defRPr sz="900"/>
            </a:lvl1pPr>
            <a:lvl2pPr lvl="1">
              <a:spcBef>
                <a:spcPts val="0"/>
              </a:spcBef>
              <a:buSzPct val="100000"/>
              <a:defRPr sz="900"/>
            </a:lvl2pPr>
            <a:lvl3pPr lvl="2">
              <a:spcBef>
                <a:spcPts val="0"/>
              </a:spcBef>
              <a:buSzPct val="100000"/>
              <a:defRPr sz="900"/>
            </a:lvl3pPr>
            <a:lvl4pPr lvl="3">
              <a:spcBef>
                <a:spcPts val="0"/>
              </a:spcBef>
              <a:buSzPct val="100000"/>
              <a:defRPr sz="900"/>
            </a:lvl4pPr>
            <a:lvl5pPr lvl="4">
              <a:spcBef>
                <a:spcPts val="0"/>
              </a:spcBef>
              <a:buSzPct val="100000"/>
              <a:defRPr sz="900"/>
            </a:lvl5pPr>
            <a:lvl6pPr lvl="5">
              <a:spcBef>
                <a:spcPts val="0"/>
              </a:spcBef>
              <a:buSzPct val="100000"/>
              <a:defRPr sz="900"/>
            </a:lvl6pPr>
            <a:lvl7pPr lvl="6">
              <a:spcBef>
                <a:spcPts val="0"/>
              </a:spcBef>
              <a:buSzPct val="100000"/>
              <a:defRPr sz="900"/>
            </a:lvl7pPr>
            <a:lvl8pPr lvl="7">
              <a:spcBef>
                <a:spcPts val="0"/>
              </a:spcBef>
              <a:buSzPct val="100000"/>
              <a:defRPr sz="900"/>
            </a:lvl8pPr>
            <a:lvl9pPr lvl="8">
              <a:spcBef>
                <a:spcPts val="0"/>
              </a:spcBef>
              <a:buSzPct val="100000"/>
              <a:defRPr sz="900"/>
            </a:lvl9pPr>
          </a:lstStyle>
          <a:p>
            <a:endParaRPr/>
          </a:p>
        </p:txBody>
      </p:sp>
      <p:sp>
        <p:nvSpPr>
          <p:cNvPr id="37" name="Shape 37"/>
          <p:cNvSpPr txBox="1">
            <a:spLocks noGrp="1"/>
          </p:cNvSpPr>
          <p:nvPr>
            <p:ph type="sldNum" idx="12"/>
          </p:nvPr>
        </p:nvSpPr>
        <p:spPr>
          <a:xfrm>
            <a:off x="8472458" y="6217621"/>
            <a:ext cx="548699" cy="52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fld id="{00000000-1234-1234-1234-123412341234}" type="slidenum">
              <a:rPr lang="en" smtClean="0">
                <a:solidFill>
                  <a:prstClr val="white"/>
                </a:solidFill>
              </a:rPr>
              <a:pPr/>
              <a:t>‹#›</a:t>
            </a:fld>
            <a:endParaRPr lang="en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2463337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4107" y="351211"/>
            <a:ext cx="8382000" cy="553998"/>
          </a:xfrm>
          <a:prstGeom prst="rect">
            <a:avLst/>
          </a:prstGeom>
        </p:spPr>
        <p:txBody>
          <a:bodyPr/>
          <a:lstStyle>
            <a:lvl1pPr>
              <a:defRPr sz="30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381001" y="1411553"/>
            <a:ext cx="8382000" cy="2210862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defRPr/>
            </a:lvl1pPr>
            <a:lvl2pPr>
              <a:lnSpc>
                <a:spcPct val="90000"/>
              </a:lnSpc>
              <a:defRPr/>
            </a:lvl2pPr>
            <a:lvl3pPr>
              <a:lnSpc>
                <a:spcPct val="90000"/>
              </a:lnSpc>
              <a:defRPr/>
            </a:lvl3pPr>
            <a:lvl4pPr>
              <a:lnSpc>
                <a:spcPct val="90000"/>
              </a:lnSpc>
              <a:defRPr/>
            </a:lvl4pPr>
            <a:lvl5pPr>
              <a:lnSpc>
                <a:spcPct val="9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10200155"/>
      </p:ext>
    </p:extLst>
  </p:cSld>
  <p:clrMapOvr>
    <a:masterClrMapping/>
  </p:clrMapOvr>
  <p:transition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4572000" y="0"/>
            <a:ext cx="457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675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702162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0">
          <p15:clr>
            <a:srgbClr val="FBAE40"/>
          </p15:clr>
        </p15:guide>
        <p15:guide id="2" pos="576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- 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Shape 48"/>
          <p:cNvSpPr>
            <a:spLocks noGrp="1"/>
          </p:cNvSpPr>
          <p:nvPr>
            <p:ph type="title"/>
          </p:nvPr>
        </p:nvSpPr>
        <p:spPr>
          <a:xfrm>
            <a:off x="669727" y="312540"/>
            <a:ext cx="7804547" cy="1518047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49" name="Shape 49"/>
          <p:cNvSpPr>
            <a:spLocks noGrp="1"/>
          </p:cNvSpPr>
          <p:nvPr>
            <p:ph type="sldNum" sz="quarter" idx="2"/>
          </p:nvPr>
        </p:nvSpPr>
        <p:spPr>
          <a:xfrm>
            <a:off x="4437983" y="6505278"/>
            <a:ext cx="259105" cy="26789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>
                <a:solidFill>
                  <a:prstClr val="white"/>
                </a:solidFill>
              </a:rPr>
              <a:pPr/>
              <a:t>‹#›</a:t>
            </a:fld>
            <a:endParaRPr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8168422"/>
      </p:ext>
    </p:extLst>
  </p:cSld>
  <p:clrMapOvr>
    <a:masterClrMapping/>
  </p:clrMapOvr>
  <p:transition spd="med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0" y="3429002"/>
            <a:ext cx="9144000" cy="3428999"/>
          </a:xfrm>
          <a:prstGeom prst="rect">
            <a:avLst/>
          </a:prstGeom>
          <a:solidFill>
            <a:srgbClr val="5853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>
              <a:solidFill>
                <a:prstClr val="white"/>
              </a:solidFill>
            </a:endParaRPr>
          </a:p>
        </p:txBody>
      </p:sp>
      <p:sp>
        <p:nvSpPr>
          <p:cNvPr id="3" name="Rectangle 2"/>
          <p:cNvSpPr/>
          <p:nvPr userDrawn="1"/>
        </p:nvSpPr>
        <p:spPr>
          <a:xfrm>
            <a:off x="0" y="2"/>
            <a:ext cx="9144000" cy="3428999"/>
          </a:xfrm>
          <a:prstGeom prst="rect">
            <a:avLst/>
          </a:prstGeom>
          <a:solidFill>
            <a:srgbClr val="ADB2B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544616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0">
          <p15:clr>
            <a:srgbClr val="FBAE40"/>
          </p15:clr>
        </p15:guide>
        <p15:guide id="2" pos="576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emo, Video etc. &quot;special&quot; slid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8601" y="0"/>
            <a:ext cx="7043208" cy="1523494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>
              <a:lnSpc>
                <a:spcPct val="90000"/>
              </a:lnSpc>
              <a:defRPr sz="405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68956" y="4344989"/>
            <a:ext cx="7043208" cy="46166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1pPr>
            <a:lvl2pPr marL="34286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73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60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47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3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21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08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29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0"/>
          </p:nvPr>
        </p:nvSpPr>
        <p:spPr>
          <a:xfrm>
            <a:off x="722050" y="2355850"/>
            <a:ext cx="7690114" cy="1384994"/>
          </a:xfrm>
          <a:prstGeom prst="rect">
            <a:avLst/>
          </a:prstGeom>
        </p:spPr>
        <p:txBody>
          <a:bodyPr>
            <a:noAutofit/>
            <a:scene3d>
              <a:camera prst="orthographicFront"/>
              <a:lightRig rig="flat" dir="t"/>
            </a:scene3d>
            <a:sp3d extrusionH="88900" contourW="2540">
              <a:bevelT w="38100" h="31750"/>
              <a:contourClr>
                <a:srgbClr val="F4A234"/>
              </a:contourClr>
            </a:sp3d>
          </a:bodyPr>
          <a:lstStyle>
            <a:lvl1pPr marL="0" indent="0" algn="l">
              <a:buFont typeface="Arial" pitchFamily="34" charset="0"/>
              <a:buNone/>
              <a:defRPr kumimoji="0" lang="en-US" sz="7499" b="1" i="1" u="none" strike="noStrike" kern="1200" cap="none" spc="-482" normalizeH="0" baseline="0" noProof="0" dirty="0" smtClean="0">
                <a:ln w="11430"/>
                <a:gradFill>
                  <a:gsLst>
                    <a:gs pos="0">
                      <a:srgbClr val="FF9929">
                        <a:lumMod val="20000"/>
                        <a:lumOff val="80000"/>
                      </a:srgbClr>
                    </a:gs>
                    <a:gs pos="28000">
                      <a:srgbClr val="F8F57B"/>
                    </a:gs>
                    <a:gs pos="62000">
                      <a:srgbClr val="D5B953"/>
                    </a:gs>
                    <a:gs pos="88000">
                      <a:srgbClr val="D1943B"/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22640346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"/>
            <a:ext cx="7886700" cy="8128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2767" y="1175201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6"/>
          <p:cNvSpPr/>
          <p:nvPr userDrawn="1"/>
        </p:nvSpPr>
        <p:spPr>
          <a:xfrm>
            <a:off x="0" y="1"/>
            <a:ext cx="308113" cy="365125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prstClr val="white"/>
              </a:solidFill>
            </a:endParaRPr>
          </a:p>
        </p:txBody>
      </p:sp>
      <p:sp>
        <p:nvSpPr>
          <p:cNvPr id="8" name="Rectangle 7"/>
          <p:cNvSpPr/>
          <p:nvPr userDrawn="1"/>
        </p:nvSpPr>
        <p:spPr>
          <a:xfrm>
            <a:off x="314325" y="365126"/>
            <a:ext cx="222388" cy="244475"/>
          </a:xfrm>
          <a:prstGeom prst="rect">
            <a:avLst/>
          </a:prstGeom>
          <a:solidFill>
            <a:srgbClr val="193B6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prstClr val="white"/>
              </a:solidFill>
            </a:endParaRPr>
          </a:p>
        </p:txBody>
      </p:sp>
      <p:sp>
        <p:nvSpPr>
          <p:cNvPr id="9" name="Rectangle 8"/>
          <p:cNvSpPr/>
          <p:nvPr userDrawn="1"/>
        </p:nvSpPr>
        <p:spPr>
          <a:xfrm>
            <a:off x="1" y="6492876"/>
            <a:ext cx="9144000" cy="365125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prstClr val="white"/>
              </a:solidFill>
            </a:endParaRPr>
          </a:p>
        </p:txBody>
      </p:sp>
      <p:sp>
        <p:nvSpPr>
          <p:cNvPr id="11" name="Rectangle 10"/>
          <p:cNvSpPr/>
          <p:nvPr userDrawn="1"/>
        </p:nvSpPr>
        <p:spPr>
          <a:xfrm flipV="1">
            <a:off x="626821" y="584452"/>
            <a:ext cx="8517179" cy="4571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prstClr val="white"/>
              </a:solidFill>
            </a:endParaRPr>
          </a:p>
        </p:txBody>
      </p:sp>
      <p:sp>
        <p:nvSpPr>
          <p:cNvPr id="12" name="Rectangle 11"/>
          <p:cNvSpPr/>
          <p:nvPr userDrawn="1"/>
        </p:nvSpPr>
        <p:spPr>
          <a:xfrm>
            <a:off x="-1" y="6590108"/>
            <a:ext cx="9144001" cy="267893"/>
          </a:xfrm>
          <a:prstGeom prst="rect">
            <a:avLst/>
          </a:prstGeom>
          <a:solidFill>
            <a:srgbClr val="193B6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prstClr val="white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24074" y="6492875"/>
            <a:ext cx="2894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bg1"/>
                </a:solidFill>
              </a:defRPr>
            </a:lvl1pPr>
          </a:lstStyle>
          <a:p>
            <a:pPr defTabSz="342900"/>
            <a:fld id="{01C45B1E-3714-436F-A336-26E1E49CD898}" type="slidenum">
              <a:rPr lang="en-US" smtClean="0">
                <a:solidFill>
                  <a:prstClr val="white"/>
                </a:solidFill>
              </a:rPr>
              <a:pPr defTabSz="342900"/>
              <a:t>‹#›</a:t>
            </a:fld>
            <a:endParaRPr lang="en-US">
              <a:solidFill>
                <a:prstClr val="white"/>
              </a:solidFill>
            </a:endParaRPr>
          </a:p>
        </p:txBody>
      </p:sp>
      <p:sp>
        <p:nvSpPr>
          <p:cNvPr id="13" name="Rectangle 12"/>
          <p:cNvSpPr/>
          <p:nvPr userDrawn="1"/>
        </p:nvSpPr>
        <p:spPr>
          <a:xfrm>
            <a:off x="159027" y="616918"/>
            <a:ext cx="155299" cy="21031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25936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700" kern="1200">
          <a:solidFill>
            <a:srgbClr val="0070C0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8134672" cy="1442591"/>
          </a:xfrm>
        </p:spPr>
        <p:txBody>
          <a:bodyPr>
            <a:normAutofit/>
          </a:bodyPr>
          <a:lstStyle/>
          <a:p>
            <a:r>
              <a:rPr dirty="0"/>
              <a:t>Patient Monitoring System </a:t>
            </a:r>
          </a:p>
        </p:txBody>
      </p:sp>
    </p:spTree>
    <p:extLst>
      <p:ext uri="{BB962C8B-B14F-4D97-AF65-F5344CB8AC3E}">
        <p14:creationId xmlns:p14="http://schemas.microsoft.com/office/powerpoint/2010/main" val="29059631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Problem Statement – Patient Monitoring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2767" y="1175200"/>
            <a:ext cx="7886700" cy="5140255"/>
          </a:xfrm>
        </p:spPr>
        <p:txBody>
          <a:bodyPr>
            <a:normAutofit lnSpcReduction="10000"/>
          </a:bodyPr>
          <a:lstStyle/>
          <a:p>
            <a:r>
              <a:rPr dirty="0"/>
              <a:t>Hospitals and caregivers struggle to continuously monitor multiple patients, especially in critical cases.</a:t>
            </a:r>
          </a:p>
          <a:p>
            <a:r>
              <a:rPr dirty="0"/>
              <a:t>Manual recording of patient vitals </a:t>
            </a:r>
            <a:r>
              <a:rPr lang="en-IN" dirty="0"/>
              <a:t>such as heart rate ,temperature blood pressure and oxygen levels </a:t>
            </a:r>
            <a:r>
              <a:rPr dirty="0"/>
              <a:t>leads to human error and delayed response.</a:t>
            </a:r>
          </a:p>
          <a:p>
            <a:r>
              <a:rPr dirty="0"/>
              <a:t>There is no centralized digital platform for real-time tracking and alerts.</a:t>
            </a:r>
          </a:p>
          <a:p>
            <a:r>
              <a:rPr dirty="0"/>
              <a:t>Increasing chronic diseases and aging population require remote and efficient monitoring.</a:t>
            </a:r>
          </a:p>
          <a:p>
            <a:r>
              <a:rPr dirty="0"/>
              <a:t>Our solution: </a:t>
            </a:r>
            <a:r>
              <a:rPr lang="en-IN" dirty="0"/>
              <a:t>A</a:t>
            </a:r>
            <a:r>
              <a:rPr dirty="0"/>
              <a:t> digital patient monitoring app that ensures timely intervention and continuous care.</a:t>
            </a:r>
            <a:endParaRPr lang="en-IN" dirty="0"/>
          </a:p>
          <a:p>
            <a:r>
              <a:rPr lang="en-US" dirty="0"/>
              <a:t>The PMS also provides continuous tracking and alert generation for abnormal conditions, ensuring faster response and improved patient safety.</a:t>
            </a:r>
          </a:p>
          <a:p>
            <a:r>
              <a:rPr lang="en-US" dirty="0"/>
              <a:t>Typical customers include: hospitals, home healthcare providers, elderly patients needing continuous observation, and post-operative care patients. </a:t>
            </a:r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45B1E-3714-436F-A336-26E1E49CD89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634438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Patient Monitoring System – Product/Solution (Innovation)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5231" y="931360"/>
            <a:ext cx="7886700" cy="5481632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r>
              <a:rPr dirty="0"/>
              <a:t>A digital health monitoring app that tracks, records, and analyzes patient data in real time.</a:t>
            </a:r>
            <a:endParaRPr lang="en-IN" dirty="0"/>
          </a:p>
          <a:p>
            <a:pPr marL="0" indent="0">
              <a:buNone/>
            </a:pPr>
            <a:r>
              <a:rPr lang="en-IN" b="1" dirty="0"/>
              <a:t>Type of Innovation:</a:t>
            </a:r>
          </a:p>
          <a:p>
            <a:r>
              <a:rPr lang="en-IN" dirty="0"/>
              <a:t>Incremental Innovation: Improves upon existing health-tracking apps by combining monitoring, alerting and doctor connectivity in one unified platform.</a:t>
            </a:r>
          </a:p>
          <a:p>
            <a:r>
              <a:rPr lang="en-IN" dirty="0"/>
              <a:t>Bridges the gap: Unlike generic fitness or health apps, it is tailored for post-operative, elderly and chronic-care patients.</a:t>
            </a:r>
            <a:endParaRPr dirty="0"/>
          </a:p>
          <a:p>
            <a:pPr marL="0" indent="0">
              <a:buNone/>
            </a:pPr>
            <a:r>
              <a:rPr b="1" dirty="0"/>
              <a:t>Key Features:</a:t>
            </a:r>
          </a:p>
          <a:p>
            <a:pPr marL="0" indent="0">
              <a:buNone/>
            </a:pPr>
            <a:r>
              <a:rPr dirty="0"/>
              <a:t>• Real-time digital dashboard for doctors and caregivers</a:t>
            </a:r>
          </a:p>
          <a:p>
            <a:pPr marL="0" indent="0">
              <a:buNone/>
            </a:pPr>
            <a:r>
              <a:rPr dirty="0"/>
              <a:t>• Health history visualization and trend analysis</a:t>
            </a:r>
          </a:p>
          <a:p>
            <a:pPr marL="0" indent="0">
              <a:buNone/>
            </a:pPr>
            <a:r>
              <a:rPr dirty="0"/>
              <a:t>• Smart alerts for abnormal readings</a:t>
            </a:r>
          </a:p>
          <a:p>
            <a:pPr marL="0" indent="0">
              <a:buNone/>
            </a:pPr>
            <a:r>
              <a:rPr dirty="0"/>
              <a:t>• Multi-user access (Doctor, Patient, Family)</a:t>
            </a:r>
          </a:p>
          <a:p>
            <a:pPr marL="0" indent="0">
              <a:buNone/>
            </a:pPr>
            <a:r>
              <a:rPr dirty="0"/>
              <a:t>• Secure cloud-based storage and analytics</a:t>
            </a:r>
          </a:p>
          <a:p>
            <a:pPr marL="0" indent="0">
              <a:buNone/>
            </a:pPr>
            <a:r>
              <a:rPr b="1" dirty="0"/>
              <a:t>Uniqueness: </a:t>
            </a:r>
            <a:r>
              <a:rPr dirty="0"/>
              <a:t>Affordable, simple, and scalable platform focused on hospital and home care environments.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Simplifies health tracking , Instant alerts, 24x7 accessibility, Data visualisation(through interactive charts and graphs for easy understanding)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173010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Patient Monitoring System – Readiness Level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9783" y="812851"/>
            <a:ext cx="7886700" cy="5392877"/>
          </a:xfrm>
        </p:spPr>
        <p:txBody>
          <a:bodyPr vert="horz" lIns="91440" tIns="45720" rIns="91440" bIns="45720" rtlCol="0" anchor="t">
            <a:normAutofit fontScale="92500"/>
          </a:bodyPr>
          <a:lstStyle/>
          <a:p>
            <a:pPr marL="0" indent="0">
              <a:buNone/>
            </a:pPr>
            <a:r>
              <a:rPr b="1" dirty="0"/>
              <a:t>Stage:</a:t>
            </a:r>
            <a:endParaRPr lang="en-IN" b="1" dirty="0"/>
          </a:p>
          <a:p>
            <a:r>
              <a:rPr lang="en-US" dirty="0"/>
              <a:t>Our product is currently in the </a:t>
            </a:r>
            <a:r>
              <a:rPr lang="en-US" b="1" dirty="0"/>
              <a:t>Ideation and Wireframe Design stage</a:t>
            </a:r>
            <a:r>
              <a:rPr lang="en-US" dirty="0"/>
              <a:t>, where the concept and structure of the Patient Monitoring  System are being validated through customer research and prototype design.​</a:t>
            </a:r>
            <a:endParaRPr dirty="0"/>
          </a:p>
          <a:p>
            <a:pPr marL="0" indent="0">
              <a:buNone/>
            </a:pPr>
            <a:endParaRPr lang="en-IN" b="1" dirty="0"/>
          </a:p>
          <a:p>
            <a:pPr marL="0" indent="0">
              <a:buNone/>
            </a:pPr>
            <a:r>
              <a:rPr b="1" dirty="0"/>
              <a:t>Current Functionalities:</a:t>
            </a:r>
          </a:p>
          <a:p>
            <a:pPr marL="0" indent="0">
              <a:buNone/>
            </a:pPr>
            <a:r>
              <a:rPr dirty="0"/>
              <a:t>• Patient registration and health data management</a:t>
            </a:r>
          </a:p>
          <a:p>
            <a:pPr marL="0" indent="0">
              <a:buNone/>
            </a:pPr>
            <a:r>
              <a:rPr dirty="0"/>
              <a:t>• Abnormal alert notifications</a:t>
            </a:r>
          </a:p>
          <a:p>
            <a:pPr marL="0" indent="0">
              <a:buNone/>
            </a:pPr>
            <a:r>
              <a:rPr dirty="0"/>
              <a:t>• Doctor dashboard and digital reports</a:t>
            </a:r>
            <a:endParaRPr lang="en-IN" dirty="0"/>
          </a:p>
          <a:p>
            <a:pPr marL="0" indent="0">
              <a:buNone/>
            </a:pPr>
            <a:r>
              <a:rPr dirty="0"/>
              <a:t>• Cloud integration and secure data storage</a:t>
            </a:r>
          </a:p>
          <a:p>
            <a:endParaRPr dirty="0"/>
          </a:p>
          <a:p>
            <a:pPr marL="0" indent="0">
              <a:buNone/>
            </a:pPr>
            <a:r>
              <a:rPr b="1" dirty="0"/>
              <a:t>Next Steps:</a:t>
            </a:r>
          </a:p>
          <a:p>
            <a:pPr marL="0" indent="0">
              <a:buNone/>
            </a:pPr>
            <a:r>
              <a:rPr dirty="0"/>
              <a:t>• Integration with hospital management systems</a:t>
            </a:r>
          </a:p>
          <a:p>
            <a:pPr marL="0" indent="0">
              <a:buNone/>
            </a:pPr>
            <a:r>
              <a:rPr dirty="0"/>
              <a:t>• Predictive analytics and AI-based insights</a:t>
            </a:r>
          </a:p>
          <a:p>
            <a:r>
              <a:rPr dirty="0"/>
              <a:t>Ideal Users: Hospitals, clinics, elderly care centers, and individual patients.</a:t>
            </a:r>
          </a:p>
        </p:txBody>
      </p:sp>
    </p:spTree>
    <p:extLst>
      <p:ext uri="{BB962C8B-B14F-4D97-AF65-F5344CB8AC3E}">
        <p14:creationId xmlns:p14="http://schemas.microsoft.com/office/powerpoint/2010/main" val="18326481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Team Size, Background, Strength &amp; Resources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b="1" dirty="0"/>
              <a:t>Team Members:</a:t>
            </a:r>
          </a:p>
          <a:p>
            <a:pPr marL="0" indent="0">
              <a:buNone/>
            </a:pPr>
            <a:r>
              <a:rPr dirty="0"/>
              <a:t>• App Developer – Frontend &amp; Backend Development</a:t>
            </a:r>
          </a:p>
          <a:p>
            <a:pPr marL="0" indent="0">
              <a:buNone/>
            </a:pPr>
            <a:r>
              <a:rPr dirty="0"/>
              <a:t>• Data Engineer – Cloud and Database Management</a:t>
            </a:r>
          </a:p>
          <a:p>
            <a:pPr marL="0" indent="0">
              <a:buNone/>
            </a:pPr>
            <a:r>
              <a:rPr dirty="0"/>
              <a:t>• Designer – UI/UX and Interface Development</a:t>
            </a:r>
          </a:p>
          <a:p>
            <a:pPr marL="0" indent="0">
              <a:buNone/>
            </a:pPr>
            <a:r>
              <a:rPr dirty="0"/>
              <a:t>• Project Lead – Domain Research &amp; Testing</a:t>
            </a:r>
          </a:p>
          <a:p>
            <a:endParaRPr dirty="0"/>
          </a:p>
          <a:p>
            <a:pPr marL="0" indent="0">
              <a:buNone/>
            </a:pPr>
            <a:r>
              <a:rPr b="1" dirty="0"/>
              <a:t>Strengths:</a:t>
            </a:r>
          </a:p>
          <a:p>
            <a:pPr marL="0" indent="0">
              <a:buNone/>
            </a:pPr>
            <a:r>
              <a:rPr dirty="0"/>
              <a:t>• Skilled in health-tech app development</a:t>
            </a:r>
          </a:p>
          <a:p>
            <a:pPr marL="0" indent="0">
              <a:buNone/>
            </a:pPr>
            <a:r>
              <a:rPr dirty="0"/>
              <a:t>• Strong understanding of healthcare workflows</a:t>
            </a:r>
          </a:p>
          <a:p>
            <a:pPr marL="0" indent="0">
              <a:buNone/>
            </a:pPr>
            <a:r>
              <a:rPr dirty="0"/>
              <a:t>• Agile team with cross-domain collaboration.</a:t>
            </a:r>
          </a:p>
        </p:txBody>
      </p:sp>
    </p:spTree>
    <p:extLst>
      <p:ext uri="{BB962C8B-B14F-4D97-AF65-F5344CB8AC3E}">
        <p14:creationId xmlns:p14="http://schemas.microsoft.com/office/powerpoint/2010/main" val="18326481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Market Landscape – Market Potential &amp; Competitors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2767" y="812850"/>
            <a:ext cx="7886700" cy="5295341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b="1" dirty="0"/>
              <a:t>Digital Health Monitoring Market:</a:t>
            </a:r>
          </a:p>
          <a:p>
            <a:pPr marL="0" indent="0">
              <a:buNone/>
            </a:pPr>
            <a:r>
              <a:rPr dirty="0"/>
              <a:t>• Global market projected to reach $370 billion by 2030</a:t>
            </a:r>
          </a:p>
          <a:p>
            <a:pPr marL="0" indent="0">
              <a:buNone/>
            </a:pPr>
            <a:r>
              <a:rPr dirty="0"/>
              <a:t>• Rapid adoption of telehealth and remote monitoring</a:t>
            </a:r>
          </a:p>
          <a:p>
            <a:endParaRPr dirty="0"/>
          </a:p>
          <a:p>
            <a:pPr marL="0" indent="0">
              <a:buNone/>
            </a:pPr>
            <a:r>
              <a:rPr b="1" dirty="0"/>
              <a:t>Competitors: </a:t>
            </a:r>
            <a:r>
              <a:rPr dirty="0" err="1"/>
              <a:t>HealthifyMe</a:t>
            </a:r>
            <a:r>
              <a:rPr lang="en-IN" dirty="0"/>
              <a:t> </a:t>
            </a:r>
            <a:r>
              <a:rPr dirty="0"/>
              <a:t>, </a:t>
            </a:r>
            <a:r>
              <a:rPr dirty="0" err="1"/>
              <a:t>Practo</a:t>
            </a:r>
            <a:r>
              <a:rPr dirty="0"/>
              <a:t>, MyChart</a:t>
            </a:r>
          </a:p>
          <a:p>
            <a:pPr marL="0" indent="0">
              <a:buNone/>
            </a:pPr>
            <a:endParaRPr lang="en-IN" b="1" dirty="0"/>
          </a:p>
          <a:p>
            <a:pPr marL="0" indent="0">
              <a:buNone/>
            </a:pPr>
            <a:r>
              <a:rPr b="1" dirty="0"/>
              <a:t>Our Advantages:</a:t>
            </a:r>
          </a:p>
          <a:p>
            <a:pPr marL="0" indent="0">
              <a:buNone/>
            </a:pPr>
            <a:r>
              <a:rPr dirty="0"/>
              <a:t>• Real-time doctor-patient connectivity</a:t>
            </a:r>
          </a:p>
          <a:p>
            <a:pPr marL="0" indent="0">
              <a:buNone/>
            </a:pPr>
            <a:r>
              <a:rPr dirty="0"/>
              <a:t>• Customizable for small hospitals and clinics</a:t>
            </a:r>
          </a:p>
          <a:p>
            <a:pPr marL="0" indent="0">
              <a:buNone/>
            </a:pPr>
            <a:r>
              <a:rPr dirty="0"/>
              <a:t>• Cost-effective and analytics-driven design.</a:t>
            </a:r>
          </a:p>
        </p:txBody>
      </p:sp>
    </p:spTree>
    <p:extLst>
      <p:ext uri="{BB962C8B-B14F-4D97-AF65-F5344CB8AC3E}">
        <p14:creationId xmlns:p14="http://schemas.microsoft.com/office/powerpoint/2010/main" val="18326481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Business Model &amp;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2767" y="1024128"/>
            <a:ext cx="7886700" cy="5096255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b="1" dirty="0"/>
              <a:t>Revenue Model:</a:t>
            </a:r>
          </a:p>
          <a:p>
            <a:pPr marL="0" indent="0">
              <a:buNone/>
            </a:pPr>
            <a:r>
              <a:rPr dirty="0"/>
              <a:t>• Freemium version for individuals</a:t>
            </a:r>
          </a:p>
          <a:p>
            <a:pPr marL="0" indent="0">
              <a:buNone/>
            </a:pPr>
            <a:r>
              <a:rPr dirty="0"/>
              <a:t>• Subscription plans for hospitals and clinics</a:t>
            </a:r>
          </a:p>
          <a:p>
            <a:pPr marL="0" indent="0">
              <a:buNone/>
            </a:pPr>
            <a:r>
              <a:rPr dirty="0"/>
              <a:t>• Add-on analytics and reporting services</a:t>
            </a:r>
          </a:p>
          <a:p>
            <a:endParaRPr dirty="0"/>
          </a:p>
          <a:p>
            <a:pPr marL="0" indent="0">
              <a:buNone/>
            </a:pPr>
            <a:r>
              <a:rPr b="1" dirty="0"/>
              <a:t>Distribution Channels:</a:t>
            </a:r>
          </a:p>
          <a:p>
            <a:pPr marL="0" indent="0">
              <a:buNone/>
            </a:pPr>
            <a:r>
              <a:rPr dirty="0"/>
              <a:t>• App stores (Android, iOS)</a:t>
            </a:r>
          </a:p>
          <a:p>
            <a:pPr marL="0" indent="0">
              <a:buNone/>
            </a:pPr>
            <a:r>
              <a:rPr dirty="0"/>
              <a:t>• Hospital partnerships and telemedicine platforms</a:t>
            </a:r>
          </a:p>
          <a:p>
            <a:endParaRPr dirty="0"/>
          </a:p>
          <a:p>
            <a:pPr marL="0" indent="0">
              <a:buNone/>
            </a:pPr>
            <a:r>
              <a:rPr b="1" dirty="0"/>
              <a:t>Growth Strategy:</a:t>
            </a:r>
          </a:p>
          <a:p>
            <a:pPr marL="0" indent="0">
              <a:buNone/>
            </a:pPr>
            <a:r>
              <a:rPr dirty="0"/>
              <a:t>• Pilot projects in hospitals</a:t>
            </a:r>
          </a:p>
          <a:p>
            <a:pPr marL="0" indent="0">
              <a:buNone/>
            </a:pPr>
            <a:r>
              <a:rPr dirty="0"/>
              <a:t>• Regional expansion through collaborations</a:t>
            </a:r>
          </a:p>
          <a:p>
            <a:pPr marL="0" indent="0">
              <a:buNone/>
            </a:pPr>
            <a:r>
              <a:rPr dirty="0"/>
              <a:t>• Digital marketing via healthcare networks.</a:t>
            </a:r>
          </a:p>
        </p:txBody>
      </p:sp>
    </p:spTree>
    <p:extLst>
      <p:ext uri="{BB962C8B-B14F-4D97-AF65-F5344CB8AC3E}">
        <p14:creationId xmlns:p14="http://schemas.microsoft.com/office/powerpoint/2010/main" val="18326481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How the Front-end works</a:t>
            </a:r>
            <a:endParaRPr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90DA51F4-08A9-BBC0-F230-ED8DD520239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5580" y="1002081"/>
            <a:ext cx="3967971" cy="5368874"/>
          </a:xfr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45B1E-3714-436F-A336-26E1E49CD89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8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ACED632-ACE7-E194-E8A9-787991D1E7DD}"/>
              </a:ext>
            </a:extLst>
          </p:cNvPr>
          <p:cNvSpPr txBox="1"/>
          <p:nvPr/>
        </p:nvSpPr>
        <p:spPr>
          <a:xfrm>
            <a:off x="353568" y="812851"/>
            <a:ext cx="4523232" cy="70173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This is the login page for Patient Monitoring System, designed to simplify patient monitoring. ​</a:t>
            </a:r>
            <a:br>
              <a:rPr lang="en-US" dirty="0"/>
            </a:br>
            <a:r>
              <a:rPr lang="en-US" dirty="0"/>
              <a:t>Key Elements:​</a:t>
            </a:r>
            <a:br>
              <a:rPr lang="en-US" dirty="0"/>
            </a:br>
            <a:r>
              <a:rPr lang="en-US" dirty="0"/>
              <a:t>​</a:t>
            </a:r>
            <a:br>
              <a:rPr lang="en-US" dirty="0"/>
            </a:br>
            <a:r>
              <a:rPr lang="en-US" b="1" dirty="0"/>
              <a:t>1. Title: </a:t>
            </a:r>
            <a:r>
              <a:rPr lang="en-US" dirty="0"/>
              <a:t>"Welcome to </a:t>
            </a:r>
            <a:r>
              <a:rPr lang="en-IN" dirty="0"/>
              <a:t>Smart Digital Health Monitoring</a:t>
            </a:r>
            <a:r>
              <a:rPr lang="en-US" dirty="0"/>
              <a:t>" ​</a:t>
            </a:r>
            <a:br>
              <a:rPr lang="en-US" dirty="0"/>
            </a:br>
            <a:r>
              <a:rPr lang="en-US" dirty="0"/>
              <a:t>​</a:t>
            </a:r>
            <a:br>
              <a:rPr lang="en-US" dirty="0"/>
            </a:br>
            <a:endParaRPr lang="en-US" dirty="0"/>
          </a:p>
          <a:p>
            <a:r>
              <a:rPr lang="en-US" b="1" dirty="0"/>
              <a:t>2. Login Section:</a:t>
            </a:r>
            <a:r>
              <a:rPr lang="en-US" dirty="0"/>
              <a:t>​</a:t>
            </a:r>
            <a:br>
              <a:rPr lang="en-US" dirty="0"/>
            </a:br>
            <a:r>
              <a:rPr lang="en-US" dirty="0"/>
              <a:t>-Email/Username: Input field (example: name123@gmail.com).​</a:t>
            </a:r>
            <a:br>
              <a:rPr lang="en-US" dirty="0"/>
            </a:br>
            <a:r>
              <a:rPr lang="en-US" dirty="0"/>
              <a:t>- Password: Masked input field.​</a:t>
            </a:r>
            <a:br>
              <a:rPr lang="en-US" dirty="0"/>
            </a:br>
            <a:r>
              <a:rPr lang="en-US" dirty="0"/>
              <a:t>- Role: Dropdown set to “Patient".​</a:t>
            </a:r>
            <a:br>
              <a:rPr lang="en-US" dirty="0"/>
            </a:br>
            <a:r>
              <a:rPr lang="en-US" dirty="0"/>
              <a:t>​</a:t>
            </a:r>
            <a:br>
              <a:rPr lang="en-US" dirty="0"/>
            </a:br>
            <a:r>
              <a:rPr lang="en-US" dirty="0"/>
              <a:t>​</a:t>
            </a:r>
            <a:br>
              <a:rPr lang="en-US" dirty="0"/>
            </a:br>
            <a:r>
              <a:rPr lang="en-US" b="1" dirty="0"/>
              <a:t>3. Actions:​</a:t>
            </a:r>
            <a:br>
              <a:rPr lang="en-US" b="1" dirty="0"/>
            </a:br>
            <a:r>
              <a:rPr lang="en-US" dirty="0"/>
              <a:t>- Login: Blue button to submit credentials.​</a:t>
            </a:r>
            <a:br>
              <a:rPr lang="en-US" dirty="0"/>
            </a:br>
            <a:r>
              <a:rPr lang="en-US" dirty="0"/>
              <a:t>- Sign Up: Option for new account creation.​</a:t>
            </a:r>
            <a:br>
              <a:rPr lang="en-US" dirty="0"/>
            </a:br>
            <a:r>
              <a:rPr lang="en-US" dirty="0"/>
              <a:t>- Forgot Password?: Link for password recovery.​</a:t>
            </a:r>
            <a:br>
              <a:rPr lang="en-US" dirty="0"/>
            </a:br>
            <a:r>
              <a:rPr lang="en-US" dirty="0"/>
              <a:t>​</a:t>
            </a:r>
            <a:br>
              <a:rPr lang="en-US" dirty="0"/>
            </a:br>
            <a:r>
              <a:rPr lang="en-US" dirty="0"/>
              <a:t>​</a:t>
            </a:r>
            <a:br>
              <a:rPr lang="en-US" dirty="0"/>
            </a:b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336003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8BEC5B-3B84-2236-BED7-B43C18FAFD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How front-end works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9B591CC7-F6B0-603C-7CAD-B1E94EB5B02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3459" y="812851"/>
            <a:ext cx="3870092" cy="5453837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73688C-9E5B-F530-CE7B-B08C15836F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45B1E-3714-436F-A336-26E1E49CD89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EAFCEDA-C8B9-7A2A-BBE7-B17861290F4E}"/>
              </a:ext>
            </a:extLst>
          </p:cNvPr>
          <p:cNvSpPr txBox="1"/>
          <p:nvPr/>
        </p:nvSpPr>
        <p:spPr>
          <a:xfrm>
            <a:off x="262996" y="812851"/>
            <a:ext cx="4880463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r>
              <a:rPr lang="en-US" dirty="0"/>
              <a:t>This screen is the Patient Health Overview</a:t>
            </a:r>
          </a:p>
          <a:p>
            <a:r>
              <a:rPr lang="en-US" dirty="0"/>
              <a:t>Dashboard - the main page a user (like a doctor, caregiver, or patient) sees after logging into the app.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It shows all vital health readings in one place things like: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 Heart Rate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 Blood Pressure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 SpO, Level (oxygen saturation)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Body Temperature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dirty="0"/>
          </a:p>
          <a:p>
            <a:r>
              <a:rPr lang="en-US" dirty="0"/>
              <a:t>Each of these boxes updates with the latest reading and tells whether the value is Normal or Abnormal.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742265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Total Budget, Required Support &amp; Regulation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5072" y="694944"/>
            <a:ext cx="8802624" cy="559612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Type of Support Required for Final Product Launch</a:t>
            </a:r>
            <a:r>
              <a:rPr lang="en-US" dirty="0"/>
              <a:t>​:</a:t>
            </a:r>
          </a:p>
          <a:p>
            <a:pPr marL="0" indent="0">
              <a:buNone/>
            </a:pPr>
            <a:r>
              <a:rPr lang="en-US" b="1" dirty="0"/>
              <a:t>Technical support:</a:t>
            </a:r>
            <a:endParaRPr b="1" dirty="0"/>
          </a:p>
          <a:p>
            <a:r>
              <a:rPr lang="en-US" dirty="0"/>
              <a:t>Cloud Infrastructure: Hosting support for backend servers, databases, and real-time data storage (e.g., Firebase, AWS, or Azure).</a:t>
            </a:r>
            <a:endParaRPr lang="en-IN" dirty="0"/>
          </a:p>
          <a:p>
            <a:r>
              <a:rPr lang="en-US" dirty="0"/>
              <a:t> App Development Mentorship: Guidance from industry experts or professors for advanced features such as AI-based anomaly detection and alert optimization.</a:t>
            </a:r>
            <a:endParaRPr lang="en-IN" dirty="0"/>
          </a:p>
          <a:p>
            <a:pPr marL="0" indent="0">
              <a:buNone/>
            </a:pPr>
            <a:r>
              <a:rPr dirty="0"/>
              <a:t>• Institutional grants and cloud credits</a:t>
            </a:r>
          </a:p>
          <a:p>
            <a:pPr marL="0" indent="0">
              <a:buNone/>
            </a:pPr>
            <a:r>
              <a:rPr dirty="0"/>
              <a:t>• Partnerships with healthcare providers</a:t>
            </a:r>
            <a:r>
              <a:rPr lang="en-IN" dirty="0"/>
              <a:t>.</a:t>
            </a:r>
          </a:p>
          <a:p>
            <a:pPr marL="0" indent="0">
              <a:buNone/>
            </a:pPr>
            <a:r>
              <a:rPr lang="en-IN" b="1" dirty="0"/>
              <a:t>Partnership and Industry Support:</a:t>
            </a:r>
          </a:p>
          <a:p>
            <a:r>
              <a:rPr lang="en-US" dirty="0"/>
              <a:t>- Partnerships with local clinics, hospitals, or home-care agencies for pilot testing and real-world validation.</a:t>
            </a:r>
            <a:endParaRPr lang="en-IN" dirty="0"/>
          </a:p>
          <a:p>
            <a:r>
              <a:rPr lang="en-US" dirty="0"/>
              <a:t>- Collaboration with IoT or wearable device manufacturers to integrate data automatically into the app.</a:t>
            </a:r>
            <a:endParaRPr lang="en-IN" dirty="0"/>
          </a:p>
          <a:p>
            <a:r>
              <a:rPr lang="en-US" dirty="0"/>
              <a:t>- Networking with AI health startups or NGOs for expansion and community use.</a:t>
            </a:r>
            <a:endParaRPr lang="en-IN" dirty="0"/>
          </a:p>
          <a:p>
            <a:pPr marL="0" indent="0">
              <a:buNone/>
            </a:pPr>
            <a:endParaRPr dirty="0"/>
          </a:p>
          <a:p>
            <a:pPr marL="0" indent="0"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8326481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The Patient Monitoring System is a digital health platform designed to make healthcare proactive.</a:t>
            </a:r>
          </a:p>
          <a:p>
            <a:endParaRPr dirty="0"/>
          </a:p>
          <a:p>
            <a:r>
              <a:rPr dirty="0"/>
              <a:t>It ensures continuous monitoring, real-time alerts, and AI-driven insights to prevent emergencies.</a:t>
            </a:r>
            <a:endParaRPr lang="en-IN" dirty="0"/>
          </a:p>
          <a:p>
            <a:endParaRPr dirty="0"/>
          </a:p>
          <a:p>
            <a:r>
              <a:rPr dirty="0"/>
              <a:t>This system empowers both patients and doctors, enhancing healthcare delivery through innovation.</a:t>
            </a:r>
            <a:endParaRPr lang="en-IN"/>
          </a:p>
          <a:p>
            <a:endParaRPr lang="en-IN" dirty="0"/>
          </a:p>
          <a:p>
            <a:r>
              <a:rPr lang="en-US" dirty="0"/>
              <a:t>The Patient Monitoring System thus aims to enhance healthcare efficiency, reduce human errors, and ensure timely medical interventions through smart technology.</a:t>
            </a:r>
            <a:endParaRPr lang="en-IN" dirty="0"/>
          </a:p>
          <a:p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5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</TotalTime>
  <Words>993</Words>
  <Application>Microsoft Office PowerPoint</Application>
  <PresentationFormat>On-screen Show (4:3)</PresentationFormat>
  <Paragraphs>112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5_Office Theme</vt:lpstr>
      <vt:lpstr>Patient Monitoring System </vt:lpstr>
      <vt:lpstr>Problem Statement – Patient Monitoring System</vt:lpstr>
      <vt:lpstr>Patient Monitoring System – Product/Solution (Innovation)</vt:lpstr>
      <vt:lpstr>Patient Monitoring System – Readiness Level</vt:lpstr>
      <vt:lpstr>Team Size, Background, Strength &amp; Resources</vt:lpstr>
      <vt:lpstr>Market Landscape – Market Potential &amp; Competitors</vt:lpstr>
      <vt:lpstr>Business Model &amp; Strategy</vt:lpstr>
      <vt:lpstr>How the Front-end works</vt:lpstr>
      <vt:lpstr>How front-end works</vt:lpstr>
      <vt:lpstr>Total Budget, Required Support &amp; Regulation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Sample template of PPT -  Application for Pitching</dc:title>
  <dc:creator>Admin</dc:creator>
  <cp:lastModifiedBy>Shilpa D J</cp:lastModifiedBy>
  <cp:revision>5</cp:revision>
  <dcterms:created xsi:type="dcterms:W3CDTF">2017-07-03T16:53:36Z</dcterms:created>
  <dcterms:modified xsi:type="dcterms:W3CDTF">2025-10-27T15:48:33Z</dcterms:modified>
</cp:coreProperties>
</file>